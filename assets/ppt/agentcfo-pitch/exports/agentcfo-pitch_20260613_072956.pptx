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大家好，我们是 AgentCFO——给每个 DAO 一个带受控钱包的 AI 财务官。参赛赛道是 Cobo Agentic Commerce。接下来用 3 分钟展示：问题、方案、Demo 和 CAW 证据。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DAO 小团队付款有四大痛点：人工表格易错、支出不透明、多签效率低、全自动又有风险。AgentCFO 的目标是在效率和安全之间找到平衡。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我们的核心边界很清晰：Agent 负责规划和解释，Risk Engine 做确定性风控，Human Approval 保留确认权，CAW 负责受控执行，Audit Report 串联全链路证据。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端到端流程：贡献记录 → 付款计划 → 风险检查 → 人工确认 → CAW 执行 → Tx Hash → 审计报告。Blocked 付款不会进入 CAW，Mock 模式必须明确标注。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六大能力：AI Payment Plan、Risk Check、Human Approval、CAW Execution、Audit Report、Mock Mode。前后端已分别部署到 Vercel 和 Render。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架构分层：前端、FastAPI 后端、LLM Planner、Risk Engine、Human Gate、CAW Adapter、Audit Report。每层职责单一，LLM 不是最终授权层。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场景四名对象：Alice 和 Charlie 可执行，Bob 因白名单被 Blocked，Data API 是工具订阅。前端可展示 risk badge 和 blocked 原因。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Phase 4C 已完成 1 笔 Sepolia testnet 低额转账，有真实 tx hash 和 request_id。但默认线上仍是 mock mode，真实转账需显式配置和人工批准。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技术栈：Python + FastAPI + Pydantic + pytest + SQLite + cobo-agentic-wallet SDK。Planner 默认 mock，可显式启用 OpenAI Structured Outputs。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P0 五个核心 API 覆盖完整 Demo 流程。另外还有 CAW status 查询和 refresh 接口，Audit Report 是不可变快照。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P0/P1 核心能力已完成并部署。P2 是 demo-safe 扩展，包括 Request Finance、Sablier、Safe 等参考能力，live integration 需明确批准。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匹配 Cobo 赛道三个方向：Agent-Native Payments、Agent Resource Procurement、A2A Treasury Management。CAW 是我们受控执行的核心。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五人分工：交付总控、物料设计、前端、后端 Agent、合约 CAW。各司其职，README 和代码保持一致。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AgentCFO：Controlled AI Treasury for DAOs。欢迎访问前端和后端 Demo，GitHub 开源。谢谢！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7250" y="857250"/>
            <a:ext cx="10477500" cy="5143500"/>
          </a:xfrm>
          <a:prstGeom prst="roundRect">
            <a:avLst>
              <a:gd name="adj" fmla="val 5185"/>
            </a:avLst>
          </a:prstGeom>
          <a:solidFill>
            <a:srgbClr val="111827"/>
          </a:solidFill>
          <a:ln w="9525">
            <a:solidFill>
              <a:srgbClr val="22D3EE">
                <a:alpha val="35000"/>
              </a:srgb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1257300" y="1352550"/>
            <a:ext cx="342900" cy="342900"/>
            <a:chOff x="1257300" y="1352550"/>
            <a:chExt cx="342900" cy="342900"/>
          </a:xfrm>
        </p:grpSpPr>
        <p:sp>
          <p:nvSpPr>
            <p:cNvPr id="4" name="Rectangle 4"/>
            <p:cNvSpPr/>
            <p:nvPr/>
          </p:nvSpPr>
          <p:spPr>
            <a:xfrm>
              <a:off x="1257300" y="1352550"/>
              <a:ext cx="342900" cy="3429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314450" y="15240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428750" y="14097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817370" y="988695"/>
            <a:ext cx="4619415" cy="1402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AgentCFO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0710" y="2127885"/>
            <a:ext cx="39624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DAO AI 财务官项目路演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72615" y="2963228"/>
            <a:ext cx="615153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给每个 DAO 一个带受控钱包的 AI 财务官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6425" y="3681412"/>
            <a:ext cx="431018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Cobo Agentic Commerce 赛道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2140" y="4568190"/>
            <a:ext cx="62384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Contribution -&gt; Plan -&gt; Risk -&gt; Human -&gt; CAW -&gt; Audit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1429" y="6372225"/>
            <a:ext cx="2081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852621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痛点：DAO 财务执行链路存在四个核心问题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428750"/>
            <a:ext cx="5143500" cy="2095500"/>
          </a:xfrm>
          <a:prstGeom prst="roundRect">
            <a:avLst>
              <a:gd name="adj" fmla="val 8182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971550" y="1619250"/>
            <a:ext cx="228600" cy="228600"/>
            <a:chOff x="971550" y="1619250"/>
            <a:chExt cx="228600" cy="228600"/>
          </a:xfrm>
        </p:grpSpPr>
        <p:sp>
          <p:nvSpPr>
            <p:cNvPr id="5" name="Rectangle 5"/>
            <p:cNvSpPr/>
            <p:nvPr/>
          </p:nvSpPr>
          <p:spPr>
            <a:xfrm>
              <a:off x="971550" y="16192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028700" y="1733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85850" y="1676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06830" y="160210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人工表格易错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2498" y="2077879"/>
            <a:ext cx="361045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多来源手工录入导致金额与收款方错误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428750"/>
            <a:ext cx="5143500" cy="2095500"/>
          </a:xfrm>
          <a:prstGeom prst="roundRect">
            <a:avLst>
              <a:gd name="adj" fmla="val 8182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6496050" y="1619250"/>
            <a:ext cx="228600" cy="228600"/>
            <a:chOff x="6496050" y="1619250"/>
            <a:chExt cx="228600" cy="228600"/>
          </a:xfrm>
        </p:grpSpPr>
        <p:sp>
          <p:nvSpPr>
            <p:cNvPr id="12" name="Rectangle 12"/>
            <p:cNvSpPr/>
            <p:nvPr/>
          </p:nvSpPr>
          <p:spPr>
            <a:xfrm>
              <a:off x="6496050" y="16192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553200" y="1733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610350" y="1676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6831330" y="160210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支出不透明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6998" y="2077879"/>
            <a:ext cx="340042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决策依据与执行结果分散在不同工具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810000"/>
            <a:ext cx="5143500" cy="2095500"/>
          </a:xfrm>
          <a:prstGeom prst="roundRect">
            <a:avLst>
              <a:gd name="adj" fmla="val 8182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971550" y="4000500"/>
            <a:ext cx="228600" cy="228600"/>
            <a:chOff x="971550" y="4000500"/>
            <a:chExt cx="228600" cy="228600"/>
          </a:xfrm>
        </p:grpSpPr>
        <p:sp>
          <p:nvSpPr>
            <p:cNvPr id="19" name="Rectangle 19"/>
            <p:cNvSpPr/>
            <p:nvPr/>
          </p:nvSpPr>
          <p:spPr>
            <a:xfrm>
              <a:off x="971550" y="40005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28700" y="4114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85850" y="40576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306830" y="39833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多签效率低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2498" y="4459129"/>
            <a:ext cx="340042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流程长、签名慢、关键付款经常延迟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3810000"/>
            <a:ext cx="5143500" cy="2095500"/>
          </a:xfrm>
          <a:prstGeom prst="roundRect">
            <a:avLst>
              <a:gd name="adj" fmla="val 8182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6496050" y="4000500"/>
            <a:ext cx="228600" cy="228600"/>
            <a:chOff x="6496050" y="4000500"/>
            <a:chExt cx="228600" cy="228600"/>
          </a:xfrm>
        </p:grpSpPr>
        <p:sp>
          <p:nvSpPr>
            <p:cNvPr id="26" name="Rectangle 26"/>
            <p:cNvSpPr/>
            <p:nvPr/>
          </p:nvSpPr>
          <p:spPr>
            <a:xfrm>
              <a:off x="6496050" y="40005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553200" y="4114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610350" y="40576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6831330" y="398335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全自动有风险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56998" y="4459129"/>
            <a:ext cx="340042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缺少风控与人工闸门会放大资金风险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81422" y="63722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493161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方案：五层协同执行模型</a:t>
            </a:r>
          </a:p>
        </p:txBody>
      </p:sp>
      <p:sp>
        <p:nvSpPr>
          <p:cNvPr id="4" name="Rectangle 4"/>
          <p:cNvSpPr/>
          <p:nvPr/>
        </p:nvSpPr>
        <p:spPr>
          <a:xfrm>
            <a:off x="666750" y="1619250"/>
            <a:ext cx="2171700" cy="3714750"/>
          </a:xfrm>
          <a:prstGeom prst="roundRect">
            <a:avLst>
              <a:gd name="adj" fmla="val 7895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876300" y="1809750"/>
            <a:ext cx="228600" cy="228600"/>
            <a:chOff x="876300" y="1809750"/>
            <a:chExt cx="228600" cy="228600"/>
          </a:xfrm>
        </p:grpSpPr>
        <p:sp>
          <p:nvSpPr>
            <p:cNvPr id="5" name="Rectangle 5"/>
            <p:cNvSpPr/>
            <p:nvPr/>
          </p:nvSpPr>
          <p:spPr>
            <a:xfrm>
              <a:off x="876300" y="18097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933450" y="1924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90600" y="18669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211580" y="1792605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Agent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7248" y="2268379"/>
            <a:ext cx="289636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解析贡献并生成 Payment Plan</a:t>
            </a:r>
          </a:p>
        </p:txBody>
      </p:sp>
      <p:sp>
        <p:nvSpPr>
          <p:cNvPr id="11" name="Line 11"/>
          <p:cNvSpPr/>
          <p:nvPr/>
        </p:nvSpPr>
        <p:spPr>
          <a:xfrm>
            <a:off x="2838450" y="347662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2895600" y="34099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009900" y="1619250"/>
            <a:ext cx="2171700" cy="3714750"/>
          </a:xfrm>
          <a:prstGeom prst="roundRect">
            <a:avLst>
              <a:gd name="adj" fmla="val 7895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3219450" y="1809750"/>
            <a:ext cx="228600" cy="228600"/>
            <a:chOff x="3219450" y="1809750"/>
            <a:chExt cx="228600" cy="228600"/>
          </a:xfrm>
        </p:grpSpPr>
        <p:sp>
          <p:nvSpPr>
            <p:cNvPr id="14" name="Rectangle 14"/>
            <p:cNvSpPr/>
            <p:nvPr/>
          </p:nvSpPr>
          <p:spPr>
            <a:xfrm>
              <a:off x="3219450" y="18097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76600" y="1924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33750" y="18669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3554730" y="1792605"/>
            <a:ext cx="16117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Risk Engine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80398" y="2268379"/>
            <a:ext cx="277034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预算、白名单、单笔限额校验</a:t>
            </a:r>
          </a:p>
        </p:txBody>
      </p:sp>
      <p:sp>
        <p:nvSpPr>
          <p:cNvPr id="20" name="Line 20"/>
          <p:cNvSpPr/>
          <p:nvPr/>
        </p:nvSpPr>
        <p:spPr>
          <a:xfrm>
            <a:off x="5181600" y="347662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5238750" y="34099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353050" y="1619250"/>
            <a:ext cx="2171700" cy="3714750"/>
          </a:xfrm>
          <a:prstGeom prst="roundRect">
            <a:avLst>
              <a:gd name="adj" fmla="val 7895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5562600" y="1809750"/>
            <a:ext cx="228600" cy="228600"/>
            <a:chOff x="5562600" y="1809750"/>
            <a:chExt cx="228600" cy="228600"/>
          </a:xfrm>
        </p:grpSpPr>
        <p:sp>
          <p:nvSpPr>
            <p:cNvPr id="23" name="Rectangle 23"/>
            <p:cNvSpPr/>
            <p:nvPr/>
          </p:nvSpPr>
          <p:spPr>
            <a:xfrm>
              <a:off x="5562600" y="18097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619750" y="1924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676900" y="18669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5897880" y="1792605"/>
            <a:ext cx="222921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Human Approval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23548" y="2268379"/>
            <a:ext cx="17202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关键节点人工确认</a:t>
            </a:r>
          </a:p>
        </p:txBody>
      </p:sp>
      <p:sp>
        <p:nvSpPr>
          <p:cNvPr id="29" name="Line 29"/>
          <p:cNvSpPr/>
          <p:nvPr/>
        </p:nvSpPr>
        <p:spPr>
          <a:xfrm>
            <a:off x="7524750" y="347662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7581900" y="34099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696200" y="1619250"/>
            <a:ext cx="2171700" cy="3714750"/>
          </a:xfrm>
          <a:prstGeom prst="roundRect">
            <a:avLst>
              <a:gd name="adj" fmla="val 7895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7905750" y="1809750"/>
            <a:ext cx="228600" cy="228600"/>
            <a:chOff x="7905750" y="1809750"/>
            <a:chExt cx="228600" cy="228600"/>
          </a:xfrm>
        </p:grpSpPr>
        <p:sp>
          <p:nvSpPr>
            <p:cNvPr id="32" name="Rectangle 32"/>
            <p:cNvSpPr/>
            <p:nvPr/>
          </p:nvSpPr>
          <p:spPr>
            <a:xfrm>
              <a:off x="7905750" y="18097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62900" y="1924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020050" y="18669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8241030" y="1792605"/>
            <a:ext cx="5973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CAW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66698" y="2268379"/>
            <a:ext cx="17202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受控钱包执行转账</a:t>
            </a:r>
          </a:p>
        </p:txBody>
      </p:sp>
      <p:sp>
        <p:nvSpPr>
          <p:cNvPr id="38" name="Line 38"/>
          <p:cNvSpPr/>
          <p:nvPr/>
        </p:nvSpPr>
        <p:spPr>
          <a:xfrm>
            <a:off x="9867900" y="347662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9925050" y="34099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10039350" y="1619250"/>
            <a:ext cx="2171700" cy="3714750"/>
          </a:xfrm>
          <a:prstGeom prst="roundRect">
            <a:avLst>
              <a:gd name="adj" fmla="val 7895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10248900" y="1809750"/>
            <a:ext cx="228600" cy="228600"/>
            <a:chOff x="10248900" y="1809750"/>
            <a:chExt cx="228600" cy="228600"/>
          </a:xfrm>
        </p:grpSpPr>
        <p:sp>
          <p:nvSpPr>
            <p:cNvPr id="41" name="Rectangle 41"/>
            <p:cNvSpPr/>
            <p:nvPr/>
          </p:nvSpPr>
          <p:spPr>
            <a:xfrm>
              <a:off x="10248900" y="18097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306050" y="19240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363200" y="18669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0584180" y="1792605"/>
            <a:ext cx="18469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Audit Report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09848" y="2268379"/>
            <a:ext cx="193024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沉淀可追溯审计记录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81422" y="63722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625478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核心流程：从贡献到审计的闭环</a:t>
            </a:r>
          </a:p>
        </p:txBody>
      </p:sp>
      <p:sp>
        <p:nvSpPr>
          <p:cNvPr id="4" name="Rectangle 4"/>
          <p:cNvSpPr/>
          <p:nvPr/>
        </p:nvSpPr>
        <p:spPr>
          <a:xfrm>
            <a:off x="381000" y="285750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552450" y="3067050"/>
            <a:ext cx="190500" cy="190500"/>
            <a:chOff x="552450" y="3067050"/>
            <a:chExt cx="190500" cy="190500"/>
          </a:xfrm>
        </p:grpSpPr>
        <p:sp>
          <p:nvSpPr>
            <p:cNvPr id="5" name="Rectangle 5"/>
            <p:cNvSpPr/>
            <p:nvPr/>
          </p:nvSpPr>
          <p:spPr>
            <a:xfrm>
              <a:off x="552450" y="30670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609600" y="3162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47700" y="31242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47565" y="3400425"/>
            <a:ext cx="21908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Contribution Records</a:t>
            </a:r>
          </a:p>
        </p:txBody>
      </p:sp>
      <p:sp>
        <p:nvSpPr>
          <p:cNvPr id="10" name="Line 10"/>
          <p:cNvSpPr/>
          <p:nvPr/>
        </p:nvSpPr>
        <p:spPr>
          <a:xfrm>
            <a:off x="1905000" y="34290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11" name="Polygon 11"/>
          <p:cNvSpPr/>
          <p:nvPr/>
        </p:nvSpPr>
        <p:spPr>
          <a:xfrm>
            <a:off x="1981200" y="3371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2076450" y="285750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2247900" y="3067050"/>
            <a:ext cx="190500" cy="190500"/>
            <a:chOff x="2247900" y="3067050"/>
            <a:chExt cx="190500" cy="190500"/>
          </a:xfrm>
        </p:grpSpPr>
        <p:sp>
          <p:nvSpPr>
            <p:cNvPr id="13" name="Rectangle 13"/>
            <p:cNvSpPr/>
            <p:nvPr/>
          </p:nvSpPr>
          <p:spPr>
            <a:xfrm>
              <a:off x="2247900" y="30670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05050" y="3162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343150" y="31242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2157817" y="3400425"/>
            <a:ext cx="13612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Payment Plan</a:t>
            </a:r>
          </a:p>
        </p:txBody>
      </p:sp>
      <p:sp>
        <p:nvSpPr>
          <p:cNvPr id="18" name="Line 18"/>
          <p:cNvSpPr/>
          <p:nvPr/>
        </p:nvSpPr>
        <p:spPr>
          <a:xfrm>
            <a:off x="3600450" y="34290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3676650" y="3371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3771900" y="285750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3943350" y="3067050"/>
            <a:ext cx="190500" cy="190500"/>
            <a:chOff x="3943350" y="3067050"/>
            <a:chExt cx="190500" cy="190500"/>
          </a:xfrm>
        </p:grpSpPr>
        <p:sp>
          <p:nvSpPr>
            <p:cNvPr id="21" name="Rectangle 21"/>
            <p:cNvSpPr/>
            <p:nvPr/>
          </p:nvSpPr>
          <p:spPr>
            <a:xfrm>
              <a:off x="3943350" y="30670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00500" y="3162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38600" y="31242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3989784" y="34004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Risk Check</a:t>
            </a:r>
          </a:p>
        </p:txBody>
      </p:sp>
      <p:sp>
        <p:nvSpPr>
          <p:cNvPr id="26" name="Line 26"/>
          <p:cNvSpPr/>
          <p:nvPr/>
        </p:nvSpPr>
        <p:spPr>
          <a:xfrm>
            <a:off x="5295900" y="34290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5372100" y="3371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467350" y="285750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5638800" y="3067050"/>
            <a:ext cx="190500" cy="190500"/>
            <a:chOff x="5638800" y="3067050"/>
            <a:chExt cx="190500" cy="190500"/>
          </a:xfrm>
        </p:grpSpPr>
        <p:sp>
          <p:nvSpPr>
            <p:cNvPr id="29" name="Rectangle 29"/>
            <p:cNvSpPr/>
            <p:nvPr/>
          </p:nvSpPr>
          <p:spPr>
            <a:xfrm>
              <a:off x="5638800" y="30670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695950" y="3162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734050" y="31242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5433203" y="3400425"/>
            <a:ext cx="15922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Human Approval</a:t>
            </a:r>
          </a:p>
        </p:txBody>
      </p:sp>
      <p:sp>
        <p:nvSpPr>
          <p:cNvPr id="34" name="Line 34"/>
          <p:cNvSpPr/>
          <p:nvPr/>
        </p:nvSpPr>
        <p:spPr>
          <a:xfrm>
            <a:off x="6991350" y="34290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7067550" y="3371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7162800" y="285750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40" name="Group 40"/>
          <p:cNvGrpSpPr/>
          <p:nvPr/>
        </p:nvGrpSpPr>
        <p:grpSpPr>
          <a:xfrm>
            <a:off x="7334250" y="3067050"/>
            <a:ext cx="190500" cy="190500"/>
            <a:chOff x="7334250" y="3067050"/>
            <a:chExt cx="190500" cy="190500"/>
          </a:xfrm>
        </p:grpSpPr>
        <p:sp>
          <p:nvSpPr>
            <p:cNvPr id="37" name="Rectangle 37"/>
            <p:cNvSpPr/>
            <p:nvPr/>
          </p:nvSpPr>
          <p:spPr>
            <a:xfrm>
              <a:off x="7334250" y="30670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391400" y="3162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429500" y="31242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7711476" y="3400425"/>
            <a:ext cx="4266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CAW</a:t>
            </a:r>
          </a:p>
        </p:txBody>
      </p:sp>
      <p:sp>
        <p:nvSpPr>
          <p:cNvPr id="42" name="Line 42"/>
          <p:cNvSpPr/>
          <p:nvPr/>
        </p:nvSpPr>
        <p:spPr>
          <a:xfrm>
            <a:off x="8686800" y="34290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43" name="Polygon 43"/>
          <p:cNvSpPr/>
          <p:nvPr/>
        </p:nvSpPr>
        <p:spPr>
          <a:xfrm>
            <a:off x="8763000" y="3371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8858250" y="285750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48" name="Group 48"/>
          <p:cNvGrpSpPr/>
          <p:nvPr/>
        </p:nvGrpSpPr>
        <p:grpSpPr>
          <a:xfrm>
            <a:off x="9029700" y="3067050"/>
            <a:ext cx="190500" cy="190500"/>
            <a:chOff x="9029700" y="3067050"/>
            <a:chExt cx="190500" cy="190500"/>
          </a:xfrm>
        </p:grpSpPr>
        <p:sp>
          <p:nvSpPr>
            <p:cNvPr id="45" name="Rectangle 45"/>
            <p:cNvSpPr/>
            <p:nvPr/>
          </p:nvSpPr>
          <p:spPr>
            <a:xfrm>
              <a:off x="9029700" y="30670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086850" y="3162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124950" y="31242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49" name="TextBox 49"/>
          <p:cNvSpPr txBox="1"/>
          <p:nvPr/>
        </p:nvSpPr>
        <p:spPr>
          <a:xfrm>
            <a:off x="9223153" y="3400425"/>
            <a:ext cx="7941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Tx Hash</a:t>
            </a:r>
          </a:p>
        </p:txBody>
      </p:sp>
      <p:sp>
        <p:nvSpPr>
          <p:cNvPr id="50" name="Line 50"/>
          <p:cNvSpPr/>
          <p:nvPr/>
        </p:nvSpPr>
        <p:spPr>
          <a:xfrm>
            <a:off x="10382250" y="34290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51" name="Polygon 51"/>
          <p:cNvSpPr/>
          <p:nvPr/>
        </p:nvSpPr>
        <p:spPr>
          <a:xfrm>
            <a:off x="10458450" y="3371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0553700" y="2857500"/>
            <a:ext cx="1524000" cy="114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56" name="Group 56"/>
          <p:cNvGrpSpPr/>
          <p:nvPr/>
        </p:nvGrpSpPr>
        <p:grpSpPr>
          <a:xfrm>
            <a:off x="10725150" y="3067050"/>
            <a:ext cx="190500" cy="190500"/>
            <a:chOff x="10725150" y="3067050"/>
            <a:chExt cx="190500" cy="190500"/>
          </a:xfrm>
        </p:grpSpPr>
        <p:sp>
          <p:nvSpPr>
            <p:cNvPr id="53" name="Rectangle 53"/>
            <p:cNvSpPr/>
            <p:nvPr/>
          </p:nvSpPr>
          <p:spPr>
            <a:xfrm>
              <a:off x="10725150" y="30670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782300" y="31623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0820400" y="31242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57" name="TextBox 57"/>
          <p:cNvSpPr txBox="1"/>
          <p:nvPr/>
        </p:nvSpPr>
        <p:spPr>
          <a:xfrm>
            <a:off x="10656070" y="3400425"/>
            <a:ext cx="13192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Audit Report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381422" y="63722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530651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功能概览：6 个可演示能力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428750"/>
            <a:ext cx="3238500" cy="17145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971550" y="1619250"/>
            <a:ext cx="228600" cy="228600"/>
            <a:chOff x="971550" y="1619250"/>
            <a:chExt cx="228600" cy="228600"/>
          </a:xfrm>
        </p:grpSpPr>
        <p:sp>
          <p:nvSpPr>
            <p:cNvPr id="5" name="Rectangle 5"/>
            <p:cNvSpPr/>
            <p:nvPr/>
          </p:nvSpPr>
          <p:spPr>
            <a:xfrm>
              <a:off x="971550" y="16192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028700" y="1733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85850" y="1676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06830" y="16021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贡献聚合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2498" y="2077879"/>
            <a:ext cx="235029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自动读取贡献记录并归档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286250" y="1428750"/>
            <a:ext cx="3238500" cy="17145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4495800" y="1619250"/>
            <a:ext cx="228600" cy="228600"/>
            <a:chOff x="4495800" y="1619250"/>
            <a:chExt cx="228600" cy="228600"/>
          </a:xfrm>
        </p:grpSpPr>
        <p:sp>
          <p:nvSpPr>
            <p:cNvPr id="12" name="Rectangle 12"/>
            <p:cNvSpPr/>
            <p:nvPr/>
          </p:nvSpPr>
          <p:spPr>
            <a:xfrm>
              <a:off x="4495800" y="16192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552950" y="1733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10100" y="1676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4831080" y="16021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付款计划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56748" y="2077879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按预算生成可解释分配方案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10500" y="1428750"/>
            <a:ext cx="3238500" cy="17145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8020050" y="1619250"/>
            <a:ext cx="228600" cy="228600"/>
            <a:chOff x="8020050" y="1619250"/>
            <a:chExt cx="228600" cy="228600"/>
          </a:xfrm>
        </p:grpSpPr>
        <p:sp>
          <p:nvSpPr>
            <p:cNvPr id="19" name="Rectangle 19"/>
            <p:cNvSpPr/>
            <p:nvPr/>
          </p:nvSpPr>
          <p:spPr>
            <a:xfrm>
              <a:off x="8020050" y="16192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077200" y="1733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134350" y="1676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8355330" y="16021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风控引擎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80998" y="2077879"/>
            <a:ext cx="2413302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白名单 + 限额 + 预算拦截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3429000"/>
            <a:ext cx="3238500" cy="17145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971550" y="3619500"/>
            <a:ext cx="228600" cy="228600"/>
            <a:chOff x="971550" y="3619500"/>
            <a:chExt cx="228600" cy="228600"/>
          </a:xfrm>
        </p:grpSpPr>
        <p:sp>
          <p:nvSpPr>
            <p:cNvPr id="26" name="Rectangle 26"/>
            <p:cNvSpPr/>
            <p:nvPr/>
          </p:nvSpPr>
          <p:spPr>
            <a:xfrm>
              <a:off x="971550" y="36195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28700" y="3733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85850" y="36766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306830" y="36023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人工闸门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2498" y="4078129"/>
            <a:ext cx="214026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高风险项必须人工确认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0" y="3429000"/>
            <a:ext cx="3238500" cy="17145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4495800" y="3619500"/>
            <a:ext cx="228600" cy="228600"/>
            <a:chOff x="4495800" y="3619500"/>
            <a:chExt cx="228600" cy="228600"/>
          </a:xfrm>
        </p:grpSpPr>
        <p:sp>
          <p:nvSpPr>
            <p:cNvPr id="33" name="Rectangle 33"/>
            <p:cNvSpPr/>
            <p:nvPr/>
          </p:nvSpPr>
          <p:spPr>
            <a:xfrm>
              <a:off x="4495800" y="36195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552950" y="3733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610100" y="36766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4831080" y="36023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钱包执行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56748" y="4078129"/>
            <a:ext cx="223477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调用 CAW 完成受控转账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810500" y="3429000"/>
            <a:ext cx="3238500" cy="17145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8020050" y="3619500"/>
            <a:ext cx="228600" cy="228600"/>
            <a:chOff x="8020050" y="3619500"/>
            <a:chExt cx="228600" cy="228600"/>
          </a:xfrm>
        </p:grpSpPr>
        <p:sp>
          <p:nvSpPr>
            <p:cNvPr id="40" name="Rectangle 40"/>
            <p:cNvSpPr/>
            <p:nvPr/>
          </p:nvSpPr>
          <p:spPr>
            <a:xfrm>
              <a:off x="8020050" y="36195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077200" y="3733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134350" y="36766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8355330" y="36023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审计报告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80998" y="4078129"/>
            <a:ext cx="193024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结果可追溯并可分享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9140" y="5768340"/>
            <a:ext cx="14192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Deployment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169795" y="5784532"/>
            <a:ext cx="52015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Vercel: https://agentcfo-frontend.vercel.app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169795" y="6127432"/>
            <a:ext cx="54765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Render: https://agentcfo-backend.onrender.com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81422" y="63722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449056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分层架构：可控自动化</a:t>
            </a:r>
          </a:p>
        </p:txBody>
      </p:sp>
      <p:sp>
        <p:nvSpPr>
          <p:cNvPr id="4" name="Rectangle 4"/>
          <p:cNvSpPr/>
          <p:nvPr/>
        </p:nvSpPr>
        <p:spPr>
          <a:xfrm>
            <a:off x="1524000" y="1314450"/>
            <a:ext cx="9144000" cy="6858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22D3EE">
                <a:alpha val="50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1771650" y="1524000"/>
            <a:ext cx="190500" cy="190500"/>
            <a:chOff x="1771650" y="1524000"/>
            <a:chExt cx="190500" cy="190500"/>
          </a:xfrm>
        </p:grpSpPr>
        <p:sp>
          <p:nvSpPr>
            <p:cNvPr id="5" name="Rectangle 5"/>
            <p:cNvSpPr/>
            <p:nvPr/>
          </p:nvSpPr>
          <p:spPr>
            <a:xfrm>
              <a:off x="1771650" y="152400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828800" y="16192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866900" y="15811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2108835" y="1446848"/>
            <a:ext cx="231571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Frontend Console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14550" y="1752600"/>
            <a:ext cx="33385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Next.js / Console Command Center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524000" y="2057400"/>
            <a:ext cx="9144000" cy="6858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8B5CF6">
                <a:alpha val="50000"/>
              </a:srgbClr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1771650" y="2266950"/>
            <a:ext cx="190500" cy="190500"/>
            <a:chOff x="1771650" y="2266950"/>
            <a:chExt cx="190500" cy="190500"/>
          </a:xfrm>
        </p:grpSpPr>
        <p:sp>
          <p:nvSpPr>
            <p:cNvPr id="12" name="Rectangle 12"/>
            <p:cNvSpPr/>
            <p:nvPr/>
          </p:nvSpPr>
          <p:spPr>
            <a:xfrm>
              <a:off x="1771650" y="22669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8B5CF6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28800" y="23622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66900" y="23241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108835" y="2189798"/>
            <a:ext cx="156486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Backend API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14550" y="2495550"/>
            <a:ext cx="3038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FastAPI P0 endpoints + adapter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524000" y="2800350"/>
            <a:ext cx="9144000" cy="6858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8B5CF6">
                <a:alpha val="50000"/>
              </a:srgbClr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1771650" y="3009900"/>
            <a:ext cx="190500" cy="190500"/>
            <a:chOff x="1771650" y="3009900"/>
            <a:chExt cx="190500" cy="190500"/>
          </a:xfrm>
        </p:grpSpPr>
        <p:sp>
          <p:nvSpPr>
            <p:cNvPr id="19" name="Rectangle 19"/>
            <p:cNvSpPr/>
            <p:nvPr/>
          </p:nvSpPr>
          <p:spPr>
            <a:xfrm>
              <a:off x="1771650" y="300990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8B5CF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828800" y="31051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866900" y="30670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2108835" y="2932748"/>
            <a:ext cx="163312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Agent Layer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14550" y="3238500"/>
            <a:ext cx="22983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Payment plan reasoning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524000" y="3543300"/>
            <a:ext cx="9144000" cy="6858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8B5CF6">
                <a:alpha val="50000"/>
              </a:srgbClr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1771650" y="3752850"/>
            <a:ext cx="190500" cy="190500"/>
            <a:chOff x="1771650" y="3752850"/>
            <a:chExt cx="190500" cy="190500"/>
          </a:xfrm>
        </p:grpSpPr>
        <p:sp>
          <p:nvSpPr>
            <p:cNvPr id="26" name="Rectangle 26"/>
            <p:cNvSpPr/>
            <p:nvPr/>
          </p:nvSpPr>
          <p:spPr>
            <a:xfrm>
              <a:off x="1771650" y="37528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8B5CF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828800" y="38481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866900" y="38100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2108835" y="3675698"/>
            <a:ext cx="141470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Risk Layer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114550" y="3981450"/>
            <a:ext cx="31984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Budget / Allowlist / Limit checks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524000" y="4286250"/>
            <a:ext cx="9144000" cy="6858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8B5CF6">
                <a:alpha val="50000"/>
              </a:srgbClr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1771650" y="4495800"/>
            <a:ext cx="190500" cy="190500"/>
            <a:chOff x="1771650" y="4495800"/>
            <a:chExt cx="190500" cy="190500"/>
          </a:xfrm>
        </p:grpSpPr>
        <p:sp>
          <p:nvSpPr>
            <p:cNvPr id="33" name="Rectangle 33"/>
            <p:cNvSpPr/>
            <p:nvPr/>
          </p:nvSpPr>
          <p:spPr>
            <a:xfrm>
              <a:off x="1771650" y="449580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8B5CF6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828800" y="45910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866900" y="45529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2108835" y="4418648"/>
            <a:ext cx="153756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Human Gate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114550" y="4724400"/>
            <a:ext cx="32585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Approval action before execution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524000" y="5029200"/>
            <a:ext cx="9144000" cy="6858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8B5CF6">
                <a:alpha val="50000"/>
              </a:srgbClr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1771650" y="5238750"/>
            <a:ext cx="190500" cy="190500"/>
            <a:chOff x="1771650" y="5238750"/>
            <a:chExt cx="190500" cy="190500"/>
          </a:xfrm>
        </p:grpSpPr>
        <p:sp>
          <p:nvSpPr>
            <p:cNvPr id="40" name="Rectangle 40"/>
            <p:cNvSpPr/>
            <p:nvPr/>
          </p:nvSpPr>
          <p:spPr>
            <a:xfrm>
              <a:off x="1771650" y="523875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8B5CF6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828800" y="533400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866900" y="52959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2108835" y="5161598"/>
            <a:ext cx="13873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CAW Layer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114550" y="5467350"/>
            <a:ext cx="29184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Cobo Agentic Wallet execution</a:t>
            </a:r>
          </a:p>
        </p:txBody>
      </p:sp>
      <p:sp>
        <p:nvSpPr>
          <p:cNvPr id="46" name="Rectangle 46"/>
          <p:cNvSpPr/>
          <p:nvPr/>
        </p:nvSpPr>
        <p:spPr>
          <a:xfrm>
            <a:off x="1524000" y="5772150"/>
            <a:ext cx="9144000" cy="685800"/>
          </a:xfrm>
          <a:prstGeom prst="roundRect">
            <a:avLst>
              <a:gd name="adj" fmla="val 19444"/>
            </a:avLst>
          </a:prstGeom>
          <a:solidFill>
            <a:srgbClr val="111827"/>
          </a:solidFill>
          <a:ln w="9525">
            <a:solidFill>
              <a:srgbClr val="22D3EE">
                <a:alpha val="50000"/>
              </a:srgbClr>
            </a:solidFill>
          </a:ln>
        </p:spPr>
      </p:sp>
      <p:grpSp>
        <p:nvGrpSpPr>
          <p:cNvPr id="50" name="Group 50"/>
          <p:cNvGrpSpPr/>
          <p:nvPr/>
        </p:nvGrpSpPr>
        <p:grpSpPr>
          <a:xfrm>
            <a:off x="1771650" y="5981700"/>
            <a:ext cx="190500" cy="190500"/>
            <a:chOff x="1771650" y="5981700"/>
            <a:chExt cx="190500" cy="190500"/>
          </a:xfrm>
        </p:grpSpPr>
        <p:sp>
          <p:nvSpPr>
            <p:cNvPr id="47" name="Rectangle 47"/>
            <p:cNvSpPr/>
            <p:nvPr/>
          </p:nvSpPr>
          <p:spPr>
            <a:xfrm>
              <a:off x="1771650" y="5981700"/>
              <a:ext cx="190500" cy="190500"/>
            </a:xfrm>
            <a:prstGeom prst="roundRect">
              <a:avLst>
                <a:gd name="adj" fmla="val 30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828800" y="60769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866900" y="60388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51" name="TextBox 51"/>
          <p:cNvSpPr txBox="1"/>
          <p:nvPr/>
        </p:nvSpPr>
        <p:spPr>
          <a:xfrm>
            <a:off x="2108835" y="5904548"/>
            <a:ext cx="156486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Audit Layer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14550" y="6210300"/>
            <a:ext cx="308848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Tx hash and report persistence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381422" y="63722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563730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Demo 数据集：预算 50 USDC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333500"/>
            <a:ext cx="10668000" cy="47625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310640" y="1805940"/>
            <a:ext cx="1167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Recipient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30140" y="1805940"/>
            <a:ext cx="18351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Amount (USDC)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40140" y="1805940"/>
            <a:ext cx="8774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Status</a:t>
            </a:r>
          </a:p>
        </p:txBody>
      </p:sp>
      <p:sp>
        <p:nvSpPr>
          <p:cNvPr id="8" name="Line 8"/>
          <p:cNvSpPr/>
          <p:nvPr/>
        </p:nvSpPr>
        <p:spPr>
          <a:xfrm>
            <a:off x="1143000" y="22479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314450" y="2381250"/>
            <a:ext cx="171450" cy="171450"/>
            <a:chOff x="1314450" y="2381250"/>
            <a:chExt cx="171450" cy="171450"/>
          </a:xfrm>
        </p:grpSpPr>
        <p:sp>
          <p:nvSpPr>
            <p:cNvPr id="9" name="Rectangle 9"/>
            <p:cNvSpPr/>
            <p:nvPr/>
          </p:nvSpPr>
          <p:spPr>
            <a:xfrm>
              <a:off x="1314450" y="238125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71600" y="246697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00175" y="24384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590675" y="2328862"/>
            <a:ext cx="7659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Alice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95925" y="2328862"/>
            <a:ext cx="40369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05925" y="2328862"/>
            <a:ext cx="9235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Ready</a:t>
            </a:r>
          </a:p>
        </p:txBody>
      </p:sp>
      <p:sp>
        <p:nvSpPr>
          <p:cNvPr id="16" name="Line 16"/>
          <p:cNvSpPr/>
          <p:nvPr/>
        </p:nvSpPr>
        <p:spPr>
          <a:xfrm>
            <a:off x="1143000" y="31051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1314450" y="3238500"/>
            <a:ext cx="171450" cy="171450"/>
            <a:chOff x="1314450" y="3238500"/>
            <a:chExt cx="171450" cy="171450"/>
          </a:xfrm>
        </p:grpSpPr>
        <p:sp>
          <p:nvSpPr>
            <p:cNvPr id="17" name="Rectangle 17"/>
            <p:cNvSpPr/>
            <p:nvPr/>
          </p:nvSpPr>
          <p:spPr>
            <a:xfrm>
              <a:off x="1314450" y="323850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371600" y="33242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400175" y="32956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590675" y="3186112"/>
            <a:ext cx="57696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Bob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95925" y="3186112"/>
            <a:ext cx="32493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05925" y="3186112"/>
            <a:ext cx="119129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Blocked</a:t>
            </a:r>
          </a:p>
        </p:txBody>
      </p:sp>
      <p:sp>
        <p:nvSpPr>
          <p:cNvPr id="24" name="Line 24"/>
          <p:cNvSpPr/>
          <p:nvPr/>
        </p:nvSpPr>
        <p:spPr>
          <a:xfrm>
            <a:off x="1143000" y="39624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1314450" y="4095750"/>
            <a:ext cx="171450" cy="171450"/>
            <a:chOff x="1314450" y="4095750"/>
            <a:chExt cx="171450" cy="171450"/>
          </a:xfrm>
        </p:grpSpPr>
        <p:sp>
          <p:nvSpPr>
            <p:cNvPr id="25" name="Rectangle 25"/>
            <p:cNvSpPr/>
            <p:nvPr/>
          </p:nvSpPr>
          <p:spPr>
            <a:xfrm>
              <a:off x="1314450" y="409575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371600" y="418147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400175" y="41529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590675" y="4043362"/>
            <a:ext cx="111253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Charlie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95925" y="4043362"/>
            <a:ext cx="32493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05925" y="4043362"/>
            <a:ext cx="9235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Ready</a:t>
            </a:r>
          </a:p>
        </p:txBody>
      </p:sp>
      <p:sp>
        <p:nvSpPr>
          <p:cNvPr id="32" name="Line 32"/>
          <p:cNvSpPr/>
          <p:nvPr/>
        </p:nvSpPr>
        <p:spPr>
          <a:xfrm>
            <a:off x="1143000" y="48196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1314450" y="4953000"/>
            <a:ext cx="171450" cy="171450"/>
            <a:chOff x="1314450" y="4953000"/>
            <a:chExt cx="171450" cy="171450"/>
          </a:xfrm>
        </p:grpSpPr>
        <p:sp>
          <p:nvSpPr>
            <p:cNvPr id="33" name="Rectangle 33"/>
            <p:cNvSpPr/>
            <p:nvPr/>
          </p:nvSpPr>
          <p:spPr>
            <a:xfrm>
              <a:off x="1314450" y="495300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371600" y="50387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400175" y="50101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590675" y="4900612"/>
            <a:ext cx="128580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Data API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95925" y="4900612"/>
            <a:ext cx="2304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05925" y="4900612"/>
            <a:ext cx="92350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Ready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81422" y="63722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581372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CAW 执行证据：Sepolia SETH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333500"/>
            <a:ext cx="10668000" cy="47625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22D3EE">
                <a:alpha val="35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1066800" y="1714500"/>
            <a:ext cx="247650" cy="247650"/>
            <a:chOff x="1066800" y="1714500"/>
            <a:chExt cx="247650" cy="247650"/>
          </a:xfrm>
        </p:grpSpPr>
        <p:sp>
          <p:nvSpPr>
            <p:cNvPr id="5" name="Rectangle 5"/>
            <p:cNvSpPr/>
            <p:nvPr/>
          </p:nvSpPr>
          <p:spPr>
            <a:xfrm>
              <a:off x="1066800" y="1714500"/>
              <a:ext cx="247650" cy="247650"/>
            </a:xfrm>
            <a:prstGeom prst="roundRect">
              <a:avLst>
                <a:gd name="adj" fmla="val 23077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123950" y="18383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190625" y="17716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400175" y="1681162"/>
            <a:ext cx="30185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Execution Snapshot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8235" y="2285048"/>
            <a:ext cx="219479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Network: Sepolia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8235" y="2723198"/>
            <a:ext cx="155771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Asset: SETH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8235" y="3161348"/>
            <a:ext cx="351706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Tx Hash: 0x85a5...ed4d98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0140" y="3787140"/>
            <a:ext cx="44262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Mode: mock mode for hackathon demo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0140" y="4149090"/>
            <a:ext cx="74506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Note: mock tx is evidence format, not real mainnet settlement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140" y="4511040"/>
            <a:ext cx="67305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Audit report keeps request id, tx hash, and risk decision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81422" y="63722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581372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技术栈：轻量、可测、可扩展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7235" y="1199198"/>
            <a:ext cx="556221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Backend-first 架构，前端通过契约适配器对接</a:t>
            </a:r>
          </a:p>
        </p:txBody>
      </p:sp>
      <p:sp>
        <p:nvSpPr>
          <p:cNvPr id="5" name="Rectangle 5"/>
          <p:cNvSpPr/>
          <p:nvPr/>
        </p:nvSpPr>
        <p:spPr>
          <a:xfrm>
            <a:off x="1143000" y="2381250"/>
            <a:ext cx="1905000" cy="1143000"/>
          </a:xfrm>
          <a:prstGeom prst="roundRect">
            <a:avLst>
              <a:gd name="adj" fmla="val 18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1352550" y="2647950"/>
            <a:ext cx="209550" cy="209550"/>
            <a:chOff x="1352550" y="2647950"/>
            <a:chExt cx="209550" cy="209550"/>
          </a:xfrm>
        </p:grpSpPr>
        <p:sp>
          <p:nvSpPr>
            <p:cNvPr id="6" name="Rectangle 6"/>
            <p:cNvSpPr/>
            <p:nvPr/>
          </p:nvSpPr>
          <p:spPr>
            <a:xfrm>
              <a:off x="1352550" y="2647950"/>
              <a:ext cx="209550" cy="209550"/>
            </a:xfrm>
            <a:prstGeom prst="roundRect">
              <a:avLst>
                <a:gd name="adj" fmla="val 2727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409700" y="27527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57325" y="27051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547110" y="2843212"/>
            <a:ext cx="10967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Python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38500" y="2381250"/>
            <a:ext cx="1905000" cy="1143000"/>
          </a:xfrm>
          <a:prstGeom prst="roundRect">
            <a:avLst>
              <a:gd name="adj" fmla="val 18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3448050" y="2647950"/>
            <a:ext cx="209550" cy="209550"/>
            <a:chOff x="3448050" y="2647950"/>
            <a:chExt cx="209550" cy="209550"/>
          </a:xfrm>
        </p:grpSpPr>
        <p:sp>
          <p:nvSpPr>
            <p:cNvPr id="12" name="Rectangle 12"/>
            <p:cNvSpPr/>
            <p:nvPr/>
          </p:nvSpPr>
          <p:spPr>
            <a:xfrm>
              <a:off x="3448050" y="2647950"/>
              <a:ext cx="209550" cy="209550"/>
            </a:xfrm>
            <a:prstGeom prst="roundRect">
              <a:avLst>
                <a:gd name="adj" fmla="val 2727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505200" y="27527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52825" y="27051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3595354" y="2843212"/>
            <a:ext cx="119129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FastAPI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334000" y="2381250"/>
            <a:ext cx="1905000" cy="1143000"/>
          </a:xfrm>
          <a:prstGeom prst="roundRect">
            <a:avLst>
              <a:gd name="adj" fmla="val 18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5543550" y="2647950"/>
            <a:ext cx="209550" cy="209550"/>
            <a:chOff x="5543550" y="2647950"/>
            <a:chExt cx="209550" cy="209550"/>
          </a:xfrm>
        </p:grpSpPr>
        <p:sp>
          <p:nvSpPr>
            <p:cNvPr id="18" name="Rectangle 18"/>
            <p:cNvSpPr/>
            <p:nvPr/>
          </p:nvSpPr>
          <p:spPr>
            <a:xfrm>
              <a:off x="5543550" y="2647950"/>
              <a:ext cx="209550" cy="209550"/>
            </a:xfrm>
            <a:prstGeom prst="roundRect">
              <a:avLst>
                <a:gd name="adj" fmla="val 2727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600700" y="27527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648325" y="27051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5738110" y="2843212"/>
            <a:ext cx="10967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pytest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429500" y="2381250"/>
            <a:ext cx="1905000" cy="1143000"/>
          </a:xfrm>
          <a:prstGeom prst="roundRect">
            <a:avLst>
              <a:gd name="adj" fmla="val 18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7639050" y="2647950"/>
            <a:ext cx="209550" cy="209550"/>
            <a:chOff x="7639050" y="2647950"/>
            <a:chExt cx="209550" cy="209550"/>
          </a:xfrm>
        </p:grpSpPr>
        <p:sp>
          <p:nvSpPr>
            <p:cNvPr id="24" name="Rectangle 24"/>
            <p:cNvSpPr/>
            <p:nvPr/>
          </p:nvSpPr>
          <p:spPr>
            <a:xfrm>
              <a:off x="7639050" y="2647950"/>
              <a:ext cx="209550" cy="209550"/>
            </a:xfrm>
            <a:prstGeom prst="roundRect">
              <a:avLst>
                <a:gd name="adj" fmla="val 2727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696200" y="27527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743825" y="27051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7841486" y="2843212"/>
            <a:ext cx="108102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SQLite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525000" y="2381250"/>
            <a:ext cx="1905000" cy="1143000"/>
          </a:xfrm>
          <a:prstGeom prst="roundRect">
            <a:avLst>
              <a:gd name="adj" fmla="val 18333"/>
            </a:avLst>
          </a:prstGeom>
          <a:solidFill>
            <a:srgbClr val="111827"/>
          </a:solidFill>
          <a:ln w="9525">
            <a:solidFill>
              <a:srgbClr val="8B5CF6">
                <a:alpha val="40000"/>
              </a:srgbClr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9734550" y="2647950"/>
            <a:ext cx="209550" cy="209550"/>
            <a:chOff x="9734550" y="2647950"/>
            <a:chExt cx="209550" cy="209550"/>
          </a:xfrm>
        </p:grpSpPr>
        <p:sp>
          <p:nvSpPr>
            <p:cNvPr id="30" name="Rectangle 30"/>
            <p:cNvSpPr/>
            <p:nvPr/>
          </p:nvSpPr>
          <p:spPr>
            <a:xfrm>
              <a:off x="9734550" y="2647950"/>
              <a:ext cx="209550" cy="209550"/>
            </a:xfrm>
            <a:prstGeom prst="roundRect">
              <a:avLst>
                <a:gd name="adj" fmla="val 2727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791700" y="27527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839325" y="27051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9850350" y="2843212"/>
            <a:ext cx="12543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CAW SDK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095750"/>
            <a:ext cx="10668000" cy="1809750"/>
          </a:xfrm>
          <a:prstGeom prst="roundRect">
            <a:avLst>
              <a:gd name="adj" fmla="val 9474"/>
            </a:avLst>
          </a:prstGeom>
          <a:solidFill>
            <a:srgbClr val="111827"/>
          </a:solidFill>
          <a:ln w="9525">
            <a:solidFill>
              <a:srgbClr val="22D3EE">
                <a:alpha val="3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6330" y="4402455"/>
            <a:ext cx="43938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Testing: pytest 覆盖 MVP 主链路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6330" y="4878705"/>
            <a:ext cx="49959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Storage: SQLite 持久化 audit report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6330" y="5354955"/>
            <a:ext cx="608809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Integration: CAW SDK + API contract mirrors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81422" y="637222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3828979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P0 API 契约（4+1）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333500"/>
            <a:ext cx="10668000" cy="47625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1162050" y="1981200"/>
            <a:ext cx="171450" cy="171450"/>
            <a:chOff x="1162050" y="1981200"/>
            <a:chExt cx="171450" cy="171450"/>
          </a:xfrm>
        </p:grpSpPr>
        <p:sp>
          <p:nvSpPr>
            <p:cNvPr id="5" name="Rectangle 5"/>
            <p:cNvSpPr/>
            <p:nvPr/>
          </p:nvSpPr>
          <p:spPr>
            <a:xfrm>
              <a:off x="1162050" y="198120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219200" y="20669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247775" y="20383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493520" y="1912620"/>
            <a:ext cx="40094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POST /api/payment-plan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62050" y="2800350"/>
            <a:ext cx="171450" cy="171450"/>
            <a:chOff x="1162050" y="2800350"/>
            <a:chExt cx="171450" cy="171450"/>
          </a:xfrm>
        </p:grpSpPr>
        <p:sp>
          <p:nvSpPr>
            <p:cNvPr id="10" name="Rectangle 10"/>
            <p:cNvSpPr/>
            <p:nvPr/>
          </p:nvSpPr>
          <p:spPr>
            <a:xfrm>
              <a:off x="1162050" y="280035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19200" y="288607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47775" y="28575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493520" y="2731770"/>
            <a:ext cx="35725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POST /api/risk-check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62050" y="3619500"/>
            <a:ext cx="171450" cy="171450"/>
            <a:chOff x="1162050" y="3619500"/>
            <a:chExt cx="171450" cy="171450"/>
          </a:xfrm>
        </p:grpSpPr>
        <p:sp>
          <p:nvSpPr>
            <p:cNvPr id="15" name="Rectangle 15"/>
            <p:cNvSpPr/>
            <p:nvPr/>
          </p:nvSpPr>
          <p:spPr>
            <a:xfrm>
              <a:off x="1162050" y="361950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19200" y="37052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247775" y="36766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493520" y="3550920"/>
            <a:ext cx="464793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POST /api/execute-payment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62050" y="4438650"/>
            <a:ext cx="171450" cy="171450"/>
            <a:chOff x="1162050" y="4438650"/>
            <a:chExt cx="171450" cy="171450"/>
          </a:xfrm>
        </p:grpSpPr>
        <p:sp>
          <p:nvSpPr>
            <p:cNvPr id="20" name="Rectangle 20"/>
            <p:cNvSpPr/>
            <p:nvPr/>
          </p:nvSpPr>
          <p:spPr>
            <a:xfrm>
              <a:off x="1162050" y="443865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219200" y="452437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247775" y="44958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493520" y="4370070"/>
            <a:ext cx="647936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GET /api/audit-report/{auditReportId}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62050" y="5257800"/>
            <a:ext cx="171450" cy="171450"/>
            <a:chOff x="1162050" y="5257800"/>
            <a:chExt cx="171450" cy="171450"/>
          </a:xfrm>
        </p:grpSpPr>
        <p:sp>
          <p:nvSpPr>
            <p:cNvPr id="25" name="Rectangle 25"/>
            <p:cNvSpPr/>
            <p:nvPr/>
          </p:nvSpPr>
          <p:spPr>
            <a:xfrm>
              <a:off x="1162050" y="5257800"/>
              <a:ext cx="171450" cy="171450"/>
            </a:xfrm>
            <a:prstGeom prst="roundRect">
              <a:avLst>
                <a:gd name="adj" fmla="val 33333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219200" y="53435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247775" y="53149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493520" y="5189220"/>
            <a:ext cx="622733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GET /api/caw-status/{cawRequestId}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1429" y="6372225"/>
            <a:ext cx="2081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515214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Roadmap：P0 -&gt; P1 -&gt; P2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428750"/>
            <a:ext cx="3429000" cy="476250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9525">
            <a:solidFill>
              <a:srgbClr val="22D3EE">
                <a:alpha val="3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2193915" y="1679258"/>
            <a:ext cx="56517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P0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2457450"/>
            <a:ext cx="152400" cy="152400"/>
            <a:chOff x="1028700" y="2457450"/>
            <a:chExt cx="152400" cy="152400"/>
          </a:xfrm>
        </p:grpSpPr>
        <p:sp>
          <p:nvSpPr>
            <p:cNvPr id="6" name="Rectangle 6"/>
            <p:cNvSpPr/>
            <p:nvPr/>
          </p:nvSpPr>
          <p:spPr>
            <a:xfrm>
              <a:off x="1028700" y="245745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85850" y="25336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04900" y="25146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53490" y="2434590"/>
            <a:ext cx="1847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✓ Payment Plan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3200400"/>
            <a:ext cx="152400" cy="152400"/>
            <a:chOff x="1028700" y="3200400"/>
            <a:chExt cx="152400" cy="152400"/>
          </a:xfrm>
        </p:grpSpPr>
        <p:sp>
          <p:nvSpPr>
            <p:cNvPr id="11" name="Rectangle 11"/>
            <p:cNvSpPr/>
            <p:nvPr/>
          </p:nvSpPr>
          <p:spPr>
            <a:xfrm>
              <a:off x="1028700" y="32004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85850" y="32766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04900" y="32575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53490" y="3177540"/>
            <a:ext cx="15201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✓ Risk Check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3943350"/>
            <a:ext cx="152400" cy="152400"/>
            <a:chOff x="1028700" y="3943350"/>
            <a:chExt cx="152400" cy="152400"/>
          </a:xfrm>
        </p:grpSpPr>
        <p:sp>
          <p:nvSpPr>
            <p:cNvPr id="16" name="Rectangle 16"/>
            <p:cNvSpPr/>
            <p:nvPr/>
          </p:nvSpPr>
          <p:spPr>
            <a:xfrm>
              <a:off x="1028700" y="394335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85850" y="40195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4900" y="40005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53490" y="3920490"/>
            <a:ext cx="21249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✓ Human Approval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28700" y="4686300"/>
            <a:ext cx="152400" cy="152400"/>
            <a:chOff x="1028700" y="4686300"/>
            <a:chExt cx="152400" cy="152400"/>
          </a:xfrm>
        </p:grpSpPr>
        <p:sp>
          <p:nvSpPr>
            <p:cNvPr id="21" name="Rectangle 21"/>
            <p:cNvSpPr/>
            <p:nvPr/>
          </p:nvSpPr>
          <p:spPr>
            <a:xfrm>
              <a:off x="1028700" y="46863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85850" y="47625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104900" y="47434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253490" y="4663440"/>
            <a:ext cx="245262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✓ CAW Mock Execute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381500" y="1428750"/>
            <a:ext cx="3429000" cy="476250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9525">
            <a:solidFill>
              <a:srgbClr val="22D3EE">
                <a:alpha val="3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868547" y="1679258"/>
            <a:ext cx="45490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P1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648200" y="2457450"/>
            <a:ext cx="152400" cy="152400"/>
            <a:chOff x="4648200" y="2457450"/>
            <a:chExt cx="152400" cy="152400"/>
          </a:xfrm>
        </p:grpSpPr>
        <p:sp>
          <p:nvSpPr>
            <p:cNvPr id="28" name="Rectangle 28"/>
            <p:cNvSpPr/>
            <p:nvPr/>
          </p:nvSpPr>
          <p:spPr>
            <a:xfrm>
              <a:off x="4648200" y="245745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705350" y="25336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724400" y="25146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4872990" y="2434590"/>
            <a:ext cx="22257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✓ Audit Report API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4648200" y="3200400"/>
            <a:ext cx="152400" cy="152400"/>
            <a:chOff x="4648200" y="3200400"/>
            <a:chExt cx="152400" cy="152400"/>
          </a:xfrm>
        </p:grpSpPr>
        <p:sp>
          <p:nvSpPr>
            <p:cNvPr id="33" name="Rectangle 33"/>
            <p:cNvSpPr/>
            <p:nvPr/>
          </p:nvSpPr>
          <p:spPr>
            <a:xfrm>
              <a:off x="4648200" y="32004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705350" y="32766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724400" y="32575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4872990" y="3177540"/>
            <a:ext cx="26416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✓ Console Integration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4648200" y="3943350"/>
            <a:ext cx="152400" cy="152400"/>
            <a:chOff x="4648200" y="3943350"/>
            <a:chExt cx="152400" cy="152400"/>
          </a:xfrm>
        </p:grpSpPr>
        <p:sp>
          <p:nvSpPr>
            <p:cNvPr id="38" name="Rectangle 38"/>
            <p:cNvSpPr/>
            <p:nvPr/>
          </p:nvSpPr>
          <p:spPr>
            <a:xfrm>
              <a:off x="4648200" y="394335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94A3B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705350" y="40195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724400" y="40005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4872990" y="3920490"/>
            <a:ext cx="318351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□ On-chain receipt verify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648200" y="4686300"/>
            <a:ext cx="152400" cy="152400"/>
            <a:chOff x="4648200" y="4686300"/>
            <a:chExt cx="152400" cy="152400"/>
          </a:xfrm>
        </p:grpSpPr>
        <p:sp>
          <p:nvSpPr>
            <p:cNvPr id="43" name="Rectangle 43"/>
            <p:cNvSpPr/>
            <p:nvPr/>
          </p:nvSpPr>
          <p:spPr>
            <a:xfrm>
              <a:off x="4648200" y="46863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94A3B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4705350" y="47625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4724400" y="47434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4872990" y="4663440"/>
            <a:ext cx="20493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□ Ops dashboard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001000" y="1428750"/>
            <a:ext cx="3429000" cy="476250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9525">
            <a:solidFill>
              <a:srgbClr val="22D3EE">
                <a:alpha val="30000"/>
              </a:srgbClr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9432915" y="1679258"/>
            <a:ext cx="56517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P2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8267700" y="2457450"/>
            <a:ext cx="152400" cy="152400"/>
            <a:chOff x="8267700" y="2457450"/>
            <a:chExt cx="152400" cy="152400"/>
          </a:xfrm>
        </p:grpSpPr>
        <p:sp>
          <p:nvSpPr>
            <p:cNvPr id="50" name="Rectangle 50"/>
            <p:cNvSpPr/>
            <p:nvPr/>
          </p:nvSpPr>
          <p:spPr>
            <a:xfrm>
              <a:off x="8267700" y="245745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94A3B8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324850" y="25336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343900" y="25146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8492490" y="2434590"/>
            <a:ext cx="24274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□ Multi-chain policy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8267700" y="3200400"/>
            <a:ext cx="152400" cy="152400"/>
            <a:chOff x="8267700" y="3200400"/>
            <a:chExt cx="152400" cy="152400"/>
          </a:xfrm>
        </p:grpSpPr>
        <p:sp>
          <p:nvSpPr>
            <p:cNvPr id="55" name="Rectangle 55"/>
            <p:cNvSpPr/>
            <p:nvPr/>
          </p:nvSpPr>
          <p:spPr>
            <a:xfrm>
              <a:off x="8267700" y="32004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94A3B8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324850" y="32766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343900" y="32575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</p:grpSp>
      <p:sp>
        <p:nvSpPr>
          <p:cNvPr id="59" name="TextBox 59"/>
          <p:cNvSpPr txBox="1"/>
          <p:nvPr/>
        </p:nvSpPr>
        <p:spPr>
          <a:xfrm>
            <a:off x="8492490" y="3177540"/>
            <a:ext cx="314570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□ Team permission matrix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8267700" y="3943350"/>
            <a:ext cx="152400" cy="152400"/>
            <a:chOff x="8267700" y="3943350"/>
            <a:chExt cx="152400" cy="152400"/>
          </a:xfrm>
        </p:grpSpPr>
        <p:sp>
          <p:nvSpPr>
            <p:cNvPr id="60" name="Rectangle 60"/>
            <p:cNvSpPr/>
            <p:nvPr/>
          </p:nvSpPr>
          <p:spPr>
            <a:xfrm>
              <a:off x="8267700" y="394335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94A3B8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324850" y="40195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343900" y="40005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8492490" y="3920490"/>
            <a:ext cx="29062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□ Treasury forecasting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8267700" y="4686300"/>
            <a:ext cx="152400" cy="152400"/>
            <a:chOff x="8267700" y="4686300"/>
            <a:chExt cx="152400" cy="152400"/>
          </a:xfrm>
        </p:grpSpPr>
        <p:sp>
          <p:nvSpPr>
            <p:cNvPr id="65" name="Rectangle 65"/>
            <p:cNvSpPr/>
            <p:nvPr/>
          </p:nvSpPr>
          <p:spPr>
            <a:xfrm>
              <a:off x="8267700" y="46863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94A3B8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324850" y="47625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343900" y="47434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8492490" y="4663440"/>
            <a:ext cx="34355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□ DAO self-serve templates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1435" y="6372225"/>
            <a:ext cx="1581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640915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Why Cobo：产品与赛道高度匹配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809750"/>
            <a:ext cx="3429000" cy="36195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971550" y="2000250"/>
            <a:ext cx="228600" cy="228600"/>
            <a:chOff x="971550" y="2000250"/>
            <a:chExt cx="228600" cy="228600"/>
          </a:xfrm>
        </p:grpSpPr>
        <p:sp>
          <p:nvSpPr>
            <p:cNvPr id="5" name="Rectangle 5"/>
            <p:cNvSpPr/>
            <p:nvPr/>
          </p:nvSpPr>
          <p:spPr>
            <a:xfrm>
              <a:off x="971550" y="20002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028700" y="2114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85850" y="2057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06830" y="19831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受控执行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2498" y="2458879"/>
            <a:ext cx="503863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Human-in-the-loop + policy check 与 CAW 高度契合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1809750"/>
            <a:ext cx="3429000" cy="36195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4591050" y="2000250"/>
            <a:ext cx="228600" cy="228600"/>
            <a:chOff x="4591050" y="2000250"/>
            <a:chExt cx="228600" cy="228600"/>
          </a:xfrm>
        </p:grpSpPr>
        <p:sp>
          <p:nvSpPr>
            <p:cNvPr id="12" name="Rectangle 12"/>
            <p:cNvSpPr/>
            <p:nvPr/>
          </p:nvSpPr>
          <p:spPr>
            <a:xfrm>
              <a:off x="4591050" y="20002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648200" y="2114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05350" y="2057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4926330" y="1983105"/>
            <a:ext cx="26114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Agentic Commerce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51998" y="2458879"/>
            <a:ext cx="319039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从计划到执行到审计形成智能闭环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01000" y="1809750"/>
            <a:ext cx="3429000" cy="36195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8210550" y="2000250"/>
            <a:ext cx="228600" cy="228600"/>
            <a:chOff x="8210550" y="2000250"/>
            <a:chExt cx="228600" cy="228600"/>
          </a:xfrm>
        </p:grpSpPr>
        <p:sp>
          <p:nvSpPr>
            <p:cNvPr id="19" name="Rectangle 19"/>
            <p:cNvSpPr/>
            <p:nvPr/>
          </p:nvSpPr>
          <p:spPr>
            <a:xfrm>
              <a:off x="8210550" y="20002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267700" y="21145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324850" y="2057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8545830" y="1983105"/>
            <a:ext cx="186166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DAO 场景验证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71498" y="2458879"/>
            <a:ext cx="403050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预算管理、风险拦截、透明审计可直接落地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3425" y="5795962"/>
            <a:ext cx="78543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结论：AgentCFO is built for Cobo Agentic Commerce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31429" y="6372225"/>
            <a:ext cx="2081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1995" y="536258"/>
            <a:ext cx="486545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团队分工：5 个角色协作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1333500"/>
            <a:ext cx="10668000" cy="47625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9525">
            <a:solidFill>
              <a:srgbClr val="8B5CF6">
                <a:alpha val="35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213485" y="1789748"/>
            <a:ext cx="58194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Role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75735" y="1789748"/>
            <a:ext cx="187885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Responsibility</a:t>
            </a:r>
          </a:p>
        </p:txBody>
      </p:sp>
      <p:sp>
        <p:nvSpPr>
          <p:cNvPr id="7" name="Line 7"/>
          <p:cNvSpPr/>
          <p:nvPr/>
        </p:nvSpPr>
        <p:spPr>
          <a:xfrm>
            <a:off x="1143000" y="2286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1276350" y="2438400"/>
            <a:ext cx="152400" cy="152400"/>
            <a:chOff x="1276350" y="2438400"/>
            <a:chExt cx="152400" cy="152400"/>
          </a:xfrm>
        </p:grpSpPr>
        <p:sp>
          <p:nvSpPr>
            <p:cNvPr id="8" name="Rectangle 8"/>
            <p:cNvSpPr/>
            <p:nvPr/>
          </p:nvSpPr>
          <p:spPr>
            <a:xfrm>
              <a:off x="1276350" y="24384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33500" y="25146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52550" y="24955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533525" y="2366962"/>
            <a:ext cx="46670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3830" y="2383155"/>
            <a:ext cx="25736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需求拆解、路线管理</a:t>
            </a:r>
          </a:p>
        </p:txBody>
      </p:sp>
      <p:sp>
        <p:nvSpPr>
          <p:cNvPr id="14" name="Line 14"/>
          <p:cNvSpPr/>
          <p:nvPr/>
        </p:nvSpPr>
        <p:spPr>
          <a:xfrm>
            <a:off x="1143000" y="31051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1276350" y="3257550"/>
            <a:ext cx="152400" cy="152400"/>
            <a:chOff x="1276350" y="3257550"/>
            <a:chExt cx="152400" cy="152400"/>
          </a:xfrm>
        </p:grpSpPr>
        <p:sp>
          <p:nvSpPr>
            <p:cNvPr id="15" name="Rectangle 15"/>
            <p:cNvSpPr/>
            <p:nvPr/>
          </p:nvSpPr>
          <p:spPr>
            <a:xfrm>
              <a:off x="1276350" y="325755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33500" y="33337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352550" y="33147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533525" y="3186112"/>
            <a:ext cx="144332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Frontend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73830" y="3202305"/>
            <a:ext cx="25176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Console 与 Landing</a:t>
            </a:r>
          </a:p>
        </p:txBody>
      </p:sp>
      <p:sp>
        <p:nvSpPr>
          <p:cNvPr id="21" name="Line 21"/>
          <p:cNvSpPr/>
          <p:nvPr/>
        </p:nvSpPr>
        <p:spPr>
          <a:xfrm>
            <a:off x="1143000" y="39243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1276350" y="4076700"/>
            <a:ext cx="152400" cy="152400"/>
            <a:chOff x="1276350" y="4076700"/>
            <a:chExt cx="152400" cy="152400"/>
          </a:xfrm>
        </p:grpSpPr>
        <p:sp>
          <p:nvSpPr>
            <p:cNvPr id="22" name="Rectangle 22"/>
            <p:cNvSpPr/>
            <p:nvPr/>
          </p:nvSpPr>
          <p:spPr>
            <a:xfrm>
              <a:off x="1276350" y="40767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333500" y="41529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352550" y="41338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533525" y="4005262"/>
            <a:ext cx="127005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Backend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73830" y="4021455"/>
            <a:ext cx="268566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API、风控、执行适配</a:t>
            </a:r>
          </a:p>
        </p:txBody>
      </p:sp>
      <p:sp>
        <p:nvSpPr>
          <p:cNvPr id="28" name="Line 28"/>
          <p:cNvSpPr/>
          <p:nvPr/>
        </p:nvSpPr>
        <p:spPr>
          <a:xfrm>
            <a:off x="1143000" y="47434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1276350" y="4895850"/>
            <a:ext cx="152400" cy="152400"/>
            <a:chOff x="1276350" y="4895850"/>
            <a:chExt cx="152400" cy="152400"/>
          </a:xfrm>
        </p:grpSpPr>
        <p:sp>
          <p:nvSpPr>
            <p:cNvPr id="29" name="Rectangle 29"/>
            <p:cNvSpPr/>
            <p:nvPr/>
          </p:nvSpPr>
          <p:spPr>
            <a:xfrm>
              <a:off x="1276350" y="489585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333500" y="497205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352550" y="495300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533525" y="4824412"/>
            <a:ext cx="19631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Wallet/Chain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73830" y="4840605"/>
            <a:ext cx="26156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CAW 对接与链上证据</a:t>
            </a:r>
          </a:p>
        </p:txBody>
      </p:sp>
      <p:sp>
        <p:nvSpPr>
          <p:cNvPr id="35" name="Line 35"/>
          <p:cNvSpPr/>
          <p:nvPr/>
        </p:nvSpPr>
        <p:spPr>
          <a:xfrm>
            <a:off x="1143000" y="55626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94A3B8">
                <a:alpha val="20000"/>
              </a:srgbClr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276350" y="5715000"/>
            <a:ext cx="152400" cy="152400"/>
            <a:chOff x="1276350" y="5715000"/>
            <a:chExt cx="152400" cy="152400"/>
          </a:xfrm>
        </p:grpSpPr>
        <p:sp>
          <p:nvSpPr>
            <p:cNvPr id="36" name="Rectangle 36"/>
            <p:cNvSpPr/>
            <p:nvPr/>
          </p:nvSpPr>
          <p:spPr>
            <a:xfrm>
              <a:off x="1276350" y="5715000"/>
              <a:ext cx="152400" cy="152400"/>
            </a:xfrm>
            <a:prstGeom prst="roundRect">
              <a:avLst>
                <a:gd name="adj" fmla="val 37500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333500" y="5791200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352550" y="5772150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533525" y="5643562"/>
            <a:ext cx="156933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Demo/Ops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973830" y="5659755"/>
            <a:ext cx="25736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演示脚本与发布协同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31429" y="6372225"/>
            <a:ext cx="2081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7250" y="857250"/>
            <a:ext cx="10477500" cy="5143500"/>
          </a:xfrm>
          <a:prstGeom prst="roundRect">
            <a:avLst>
              <a:gd name="adj" fmla="val 5185"/>
            </a:avLst>
          </a:prstGeom>
          <a:solidFill>
            <a:srgbClr val="111827"/>
          </a:solidFill>
          <a:ln w="9525">
            <a:solidFill>
              <a:srgbClr val="22D3EE">
                <a:alpha val="35000"/>
              </a:srgb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695950" y="1638300"/>
            <a:ext cx="342900" cy="342900"/>
            <a:chOff x="5695950" y="1638300"/>
            <a:chExt cx="342900" cy="342900"/>
          </a:xfrm>
        </p:grpSpPr>
        <p:sp>
          <p:nvSpPr>
            <p:cNvPr id="4" name="Rectangle 4"/>
            <p:cNvSpPr/>
            <p:nvPr/>
          </p:nvSpPr>
          <p:spPr>
            <a:xfrm>
              <a:off x="5695950" y="1638300"/>
              <a:ext cx="342900" cy="34290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22D3EE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53100" y="1809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867400" y="16954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3943031" y="1796415"/>
            <a:ext cx="4305938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F1F5F9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12421" y="2867978"/>
            <a:ext cx="436715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8B5CF6"/>
                </a:solidFill>
                <a:latin typeface="Arial"/>
                <a:ea typeface="Microsoft YaHei"/>
                <a:cs typeface="Arial"/>
              </a:rPr>
              <a:t>AgentCFO · DAO AI 财务官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06864" y="3694748"/>
            <a:ext cx="59782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Demo: https://agentcfo-frontend.vercel.app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35356" y="4113848"/>
            <a:ext cx="612128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Repo: https://github.com/agentcfo/agent-cfo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46994" y="4532948"/>
            <a:ext cx="38980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Track: Cobo Agentic Commerce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1429" y="6372225"/>
            <a:ext cx="2081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